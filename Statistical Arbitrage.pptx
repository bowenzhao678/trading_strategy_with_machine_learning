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c9b8b7709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c9b8b7709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c9b8b7709_3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c9b8b7709_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c9b8b7709_3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c9b8b7709_3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c9b8b7709_7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c9b8b7709_7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c9b8b7709_7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6c9b8b7709_7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c9b8b7709_3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6c9b8b7709_3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6c9b8b7709_3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6c9b8b7709_3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6c9b8b7709_3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6c9b8b7709_3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6c9b8b7709_3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6c9b8b7709_3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c9b8b7709_3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6c9b8b7709_3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c9b8b7709_3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6c9b8b7709_3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6c9b8b7709_7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6c9b8b7709_7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Applying SVM-Based Trade Classification to Pairs Trading: Statistical Arbitrage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699400" cy="16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Bowen Zhao, Harsh Kulkarni</a:t>
            </a:r>
            <a:br>
              <a:rPr lang="en"/>
            </a:b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 16th,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234900" y="84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 &amp; Project Goal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176350" y="731350"/>
            <a:ext cx="8744700" cy="43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b="1" lang="en" sz="1152">
                <a:solidFill>
                  <a:schemeClr val="dk1"/>
                </a:solidFill>
              </a:rPr>
              <a:t>Motivation</a:t>
            </a:r>
            <a:endParaRPr b="1" sz="1152">
              <a:solidFill>
                <a:schemeClr val="dk1"/>
              </a:solidFill>
            </a:endParaRPr>
          </a:p>
          <a:p>
            <a:pPr indent="-30178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53"/>
              <a:buChar char="●"/>
            </a:pPr>
            <a:r>
              <a:rPr lang="en" sz="1152">
                <a:solidFill>
                  <a:schemeClr val="dk1"/>
                </a:solidFill>
              </a:rPr>
              <a:t>Traditional </a:t>
            </a:r>
            <a:r>
              <a:rPr b="1" lang="en" sz="1152">
                <a:solidFill>
                  <a:schemeClr val="dk1"/>
                </a:solidFill>
              </a:rPr>
              <a:t>pairs trading strategies</a:t>
            </a:r>
            <a:r>
              <a:rPr lang="en" sz="1152">
                <a:solidFill>
                  <a:schemeClr val="dk1"/>
                </a:solidFill>
              </a:rPr>
              <a:t> rely on simple technical indicators (e.g., RSI, MACD) to detect mean reversion opportunities.</a:t>
            </a:r>
            <a:endParaRPr sz="1152">
              <a:solidFill>
                <a:schemeClr val="dk1"/>
              </a:solidFill>
            </a:endParaRPr>
          </a:p>
          <a:p>
            <a:pPr indent="-30178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3"/>
              <a:buChar char="●"/>
            </a:pPr>
            <a:r>
              <a:rPr lang="en" sz="1152">
                <a:solidFill>
                  <a:schemeClr val="dk1"/>
                </a:solidFill>
              </a:rPr>
              <a:t>These methods are often </a:t>
            </a:r>
            <a:r>
              <a:rPr b="1" lang="en" sz="1152">
                <a:solidFill>
                  <a:schemeClr val="dk1"/>
                </a:solidFill>
              </a:rPr>
              <a:t>noisy</a:t>
            </a:r>
            <a:r>
              <a:rPr lang="en" sz="1152">
                <a:solidFill>
                  <a:schemeClr val="dk1"/>
                </a:solidFill>
              </a:rPr>
              <a:t>, </a:t>
            </a:r>
            <a:r>
              <a:rPr b="1" lang="en" sz="1152">
                <a:solidFill>
                  <a:schemeClr val="dk1"/>
                </a:solidFill>
              </a:rPr>
              <a:t>lagging</a:t>
            </a:r>
            <a:r>
              <a:rPr lang="en" sz="1152">
                <a:solidFill>
                  <a:schemeClr val="dk1"/>
                </a:solidFill>
              </a:rPr>
              <a:t>, and </a:t>
            </a:r>
            <a:r>
              <a:rPr b="1" lang="en" sz="1152">
                <a:solidFill>
                  <a:schemeClr val="dk1"/>
                </a:solidFill>
              </a:rPr>
              <a:t>not adaptive</a:t>
            </a:r>
            <a:r>
              <a:rPr lang="en" sz="1152">
                <a:solidFill>
                  <a:schemeClr val="dk1"/>
                </a:solidFill>
              </a:rPr>
              <a:t> to changing market regimes.</a:t>
            </a:r>
            <a:endParaRPr sz="1152">
              <a:solidFill>
                <a:schemeClr val="dk1"/>
              </a:solidFill>
            </a:endParaRPr>
          </a:p>
          <a:p>
            <a:pPr indent="-30178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3"/>
              <a:buChar char="●"/>
            </a:pPr>
            <a:r>
              <a:rPr lang="en" sz="1152">
                <a:solidFill>
                  <a:schemeClr val="dk1"/>
                </a:solidFill>
              </a:rPr>
              <a:t>Modern markets are </a:t>
            </a:r>
            <a:r>
              <a:rPr b="1" lang="en" sz="1152">
                <a:solidFill>
                  <a:schemeClr val="dk1"/>
                </a:solidFill>
              </a:rPr>
              <a:t>non-stationary</a:t>
            </a:r>
            <a:r>
              <a:rPr lang="en" sz="1152">
                <a:solidFill>
                  <a:schemeClr val="dk1"/>
                </a:solidFill>
              </a:rPr>
              <a:t>, with structural breaks and volatility regime shifts → classical signals can degrade quickly.</a:t>
            </a:r>
            <a:endParaRPr sz="1152">
              <a:solidFill>
                <a:schemeClr val="dk1"/>
              </a:solidFill>
            </a:endParaRPr>
          </a:p>
          <a:p>
            <a:pPr indent="-30178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3"/>
              <a:buChar char="●"/>
            </a:pPr>
            <a:r>
              <a:rPr lang="en" sz="1152">
                <a:solidFill>
                  <a:schemeClr val="dk1"/>
                </a:solidFill>
              </a:rPr>
              <a:t>By incorporating </a:t>
            </a:r>
            <a:r>
              <a:rPr b="1" lang="en" sz="1152">
                <a:solidFill>
                  <a:schemeClr val="dk1"/>
                </a:solidFill>
              </a:rPr>
              <a:t>econometric spread dynamics</a:t>
            </a:r>
            <a:r>
              <a:rPr lang="en" sz="1152">
                <a:solidFill>
                  <a:schemeClr val="dk1"/>
                </a:solidFill>
              </a:rPr>
              <a:t>, </a:t>
            </a:r>
            <a:r>
              <a:rPr b="1" lang="en" sz="1152">
                <a:solidFill>
                  <a:schemeClr val="dk1"/>
                </a:solidFill>
              </a:rPr>
              <a:t>macro indicators</a:t>
            </a:r>
            <a:r>
              <a:rPr lang="en" sz="1152">
                <a:solidFill>
                  <a:schemeClr val="dk1"/>
                </a:solidFill>
              </a:rPr>
              <a:t>, and </a:t>
            </a:r>
            <a:r>
              <a:rPr b="1" lang="en" sz="1152">
                <a:solidFill>
                  <a:schemeClr val="dk1"/>
                </a:solidFill>
              </a:rPr>
              <a:t>Hidden Markov Models (HMM)</a:t>
            </a:r>
            <a:r>
              <a:rPr lang="en" sz="1152">
                <a:solidFill>
                  <a:schemeClr val="dk1"/>
                </a:solidFill>
              </a:rPr>
              <a:t>, we can </a:t>
            </a:r>
            <a:r>
              <a:rPr b="1" lang="en" sz="1152">
                <a:solidFill>
                  <a:schemeClr val="dk1"/>
                </a:solidFill>
              </a:rPr>
              <a:t>capture richer structure</a:t>
            </a:r>
            <a:r>
              <a:rPr lang="en" sz="1152">
                <a:solidFill>
                  <a:schemeClr val="dk1"/>
                </a:solidFill>
              </a:rPr>
              <a:t> in spread behavior.</a:t>
            </a:r>
            <a:endParaRPr sz="1152">
              <a:solidFill>
                <a:schemeClr val="dk1"/>
              </a:solidFill>
            </a:endParaRPr>
          </a:p>
          <a:p>
            <a:pPr indent="-30178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3"/>
              <a:buChar char="●"/>
            </a:pPr>
            <a:r>
              <a:rPr lang="en" sz="1152">
                <a:solidFill>
                  <a:schemeClr val="dk1"/>
                </a:solidFill>
              </a:rPr>
              <a:t>Machine learning methods like </a:t>
            </a:r>
            <a:r>
              <a:rPr b="1" lang="en" sz="1152">
                <a:solidFill>
                  <a:schemeClr val="dk1"/>
                </a:solidFill>
              </a:rPr>
              <a:t>SVM classifiers</a:t>
            </a:r>
            <a:r>
              <a:rPr lang="en" sz="1152">
                <a:solidFill>
                  <a:schemeClr val="dk1"/>
                </a:solidFill>
              </a:rPr>
              <a:t> can learn </a:t>
            </a:r>
            <a:r>
              <a:rPr b="1" lang="en" sz="1152">
                <a:solidFill>
                  <a:schemeClr val="dk1"/>
                </a:solidFill>
              </a:rPr>
              <a:t>nonlinear decision boundaries</a:t>
            </a:r>
            <a:r>
              <a:rPr lang="en" sz="1152">
                <a:solidFill>
                  <a:schemeClr val="dk1"/>
                </a:solidFill>
              </a:rPr>
              <a:t> for trade selection.</a:t>
            </a:r>
            <a:endParaRPr sz="1152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b="1" lang="en" sz="1152">
                <a:solidFill>
                  <a:schemeClr val="dk1"/>
                </a:solidFill>
              </a:rPr>
              <a:t>Project Goal</a:t>
            </a:r>
            <a:endParaRPr b="1" sz="1152">
              <a:solidFill>
                <a:schemeClr val="dk1"/>
              </a:solidFill>
            </a:endParaRPr>
          </a:p>
          <a:p>
            <a:pPr indent="-30178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53"/>
              <a:buChar char="●"/>
            </a:pPr>
            <a:r>
              <a:rPr lang="en" sz="1152">
                <a:solidFill>
                  <a:schemeClr val="dk1"/>
                </a:solidFill>
              </a:rPr>
              <a:t>Build a </a:t>
            </a:r>
            <a:r>
              <a:rPr b="1" lang="en" sz="1152">
                <a:solidFill>
                  <a:schemeClr val="dk1"/>
                </a:solidFill>
              </a:rPr>
              <a:t>market-neutral statistical arbitrage strategy</a:t>
            </a:r>
            <a:r>
              <a:rPr lang="en" sz="1152">
                <a:solidFill>
                  <a:schemeClr val="dk1"/>
                </a:solidFill>
              </a:rPr>
              <a:t> between </a:t>
            </a:r>
            <a:r>
              <a:rPr b="1" lang="en" sz="1152">
                <a:solidFill>
                  <a:schemeClr val="dk1"/>
                </a:solidFill>
              </a:rPr>
              <a:t>cointegrated asset pairs</a:t>
            </a:r>
            <a:r>
              <a:rPr lang="en" sz="1152">
                <a:solidFill>
                  <a:schemeClr val="dk1"/>
                </a:solidFill>
              </a:rPr>
              <a:t>.</a:t>
            </a:r>
            <a:endParaRPr sz="1152">
              <a:solidFill>
                <a:schemeClr val="dk1"/>
              </a:solidFill>
            </a:endParaRPr>
          </a:p>
          <a:p>
            <a:pPr indent="-30178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3"/>
              <a:buChar char="●"/>
            </a:pPr>
            <a:r>
              <a:rPr lang="en" sz="1152">
                <a:solidFill>
                  <a:schemeClr val="dk1"/>
                </a:solidFill>
              </a:rPr>
              <a:t>Use </a:t>
            </a:r>
            <a:r>
              <a:rPr b="1" lang="en" sz="1152">
                <a:solidFill>
                  <a:schemeClr val="dk1"/>
                </a:solidFill>
              </a:rPr>
              <a:t>Support Vector Machine (SVM)</a:t>
            </a:r>
            <a:r>
              <a:rPr lang="en" sz="1152">
                <a:solidFill>
                  <a:schemeClr val="dk1"/>
                </a:solidFill>
              </a:rPr>
              <a:t> classifiers to predict the profitability of mean-reversion trades.</a:t>
            </a:r>
            <a:endParaRPr sz="1152">
              <a:solidFill>
                <a:schemeClr val="dk1"/>
              </a:solidFill>
            </a:endParaRPr>
          </a:p>
          <a:p>
            <a:pPr indent="-30178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3"/>
              <a:buChar char="●"/>
            </a:pPr>
            <a:r>
              <a:rPr lang="en" sz="1152">
                <a:solidFill>
                  <a:schemeClr val="dk1"/>
                </a:solidFill>
              </a:rPr>
              <a:t>Replace simple indicators with a </a:t>
            </a:r>
            <a:r>
              <a:rPr b="1" lang="en" sz="1152">
                <a:solidFill>
                  <a:schemeClr val="dk1"/>
                </a:solidFill>
              </a:rPr>
              <a:t>feature set based on:</a:t>
            </a:r>
            <a:br>
              <a:rPr b="1" lang="en" sz="1152">
                <a:solidFill>
                  <a:schemeClr val="dk1"/>
                </a:solidFill>
              </a:rPr>
            </a:br>
            <a:endParaRPr b="1" sz="1152">
              <a:solidFill>
                <a:schemeClr val="dk1"/>
              </a:solidFill>
            </a:endParaRPr>
          </a:p>
          <a:p>
            <a:pPr indent="-301783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3"/>
              <a:buChar char="○"/>
            </a:pPr>
            <a:r>
              <a:rPr b="1" lang="en" sz="1152">
                <a:solidFill>
                  <a:schemeClr val="dk1"/>
                </a:solidFill>
              </a:rPr>
              <a:t>Econometric statistics</a:t>
            </a:r>
            <a:r>
              <a:rPr lang="en" sz="1152">
                <a:solidFill>
                  <a:schemeClr val="dk1"/>
                </a:solidFill>
              </a:rPr>
              <a:t> (Ornstein–Uhlenbeck process parameters, stationarity tests, Hurst exponent).</a:t>
            </a:r>
            <a:br>
              <a:rPr lang="en" sz="1152">
                <a:solidFill>
                  <a:schemeClr val="dk1"/>
                </a:solidFill>
              </a:rPr>
            </a:br>
            <a:endParaRPr sz="1152">
              <a:solidFill>
                <a:schemeClr val="dk1"/>
              </a:solidFill>
            </a:endParaRPr>
          </a:p>
          <a:p>
            <a:pPr indent="-301783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3"/>
              <a:buChar char="○"/>
            </a:pPr>
            <a:r>
              <a:rPr b="1" lang="en" sz="1152">
                <a:solidFill>
                  <a:schemeClr val="dk1"/>
                </a:solidFill>
              </a:rPr>
              <a:t>HMM regime probabilities</a:t>
            </a:r>
            <a:r>
              <a:rPr lang="en" sz="1152">
                <a:solidFill>
                  <a:schemeClr val="dk1"/>
                </a:solidFill>
              </a:rPr>
              <a:t> for spread returns.</a:t>
            </a:r>
            <a:br>
              <a:rPr lang="en" sz="1152">
                <a:solidFill>
                  <a:schemeClr val="dk1"/>
                </a:solidFill>
              </a:rPr>
            </a:br>
            <a:endParaRPr sz="1152">
              <a:solidFill>
                <a:schemeClr val="dk1"/>
              </a:solidFill>
            </a:endParaRPr>
          </a:p>
          <a:p>
            <a:pPr indent="-301783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3"/>
              <a:buChar char="○"/>
            </a:pPr>
            <a:r>
              <a:rPr b="1" lang="en" sz="1152">
                <a:solidFill>
                  <a:schemeClr val="dk1"/>
                </a:solidFill>
              </a:rPr>
              <a:t>Macro indicators</a:t>
            </a:r>
            <a:r>
              <a:rPr lang="en" sz="1152">
                <a:solidFill>
                  <a:schemeClr val="dk1"/>
                </a:solidFill>
              </a:rPr>
              <a:t> (e.g., VIX, yield curve spreads).</a:t>
            </a:r>
            <a:br>
              <a:rPr lang="en" sz="1152">
                <a:solidFill>
                  <a:schemeClr val="dk1"/>
                </a:solidFill>
              </a:rPr>
            </a:br>
            <a:endParaRPr sz="1152">
              <a:solidFill>
                <a:schemeClr val="dk1"/>
              </a:solidFill>
            </a:endParaRPr>
          </a:p>
          <a:p>
            <a:pPr indent="-30178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3"/>
              <a:buChar char="●"/>
            </a:pPr>
            <a:r>
              <a:rPr lang="en" sz="1152">
                <a:solidFill>
                  <a:schemeClr val="dk1"/>
                </a:solidFill>
              </a:rPr>
              <a:t>Generate </a:t>
            </a:r>
            <a:r>
              <a:rPr b="1" lang="en" sz="1152">
                <a:solidFill>
                  <a:schemeClr val="dk1"/>
                </a:solidFill>
              </a:rPr>
              <a:t>labels through simulated PnL</a:t>
            </a:r>
            <a:r>
              <a:rPr lang="en" sz="1152">
                <a:solidFill>
                  <a:schemeClr val="dk1"/>
                </a:solidFill>
              </a:rPr>
              <a:t> of simple z-score mean reversion trades → train two SVMs (long &amp; short).</a:t>
            </a:r>
            <a:endParaRPr sz="169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259050" y="129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Collection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213950" y="761450"/>
            <a:ext cx="8812200" cy="43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Select ~10 liquid, same-sector asset pairs (e.g., JPM–BAC, KO–PEP) to ensure comparable fundamentals and stable relationships.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Download adjusted close prices (hourly or daily) and convert to log prices for linearity and variance stabilization.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Align timestamps across assets, handle holidays and missing data carefully.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Collect macroeconomic indicators to enrich the feature space:</a:t>
            </a:r>
            <a:br>
              <a:rPr lang="en"/>
            </a:br>
            <a:endParaRPr/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VIX Index (volatility proxy)</a:t>
            </a:r>
            <a:br>
              <a:rPr lang="en"/>
            </a:br>
            <a:endParaRPr/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10Y–2Y Treasury yield spread (macro regime indicator)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Resample and forward-fill macro data to match the frequency of price data.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251550" y="144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Pair Selection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101150" y="716950"/>
            <a:ext cx="8977800" cy="44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71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8"/>
              <a:buChar char="●"/>
            </a:pPr>
            <a:r>
              <a:rPr lang="en" sz="1608">
                <a:solidFill>
                  <a:schemeClr val="dk1"/>
                </a:solidFill>
              </a:rPr>
              <a:t>Apply a </a:t>
            </a:r>
            <a:r>
              <a:rPr b="1" lang="en" sz="1608">
                <a:solidFill>
                  <a:schemeClr val="dk1"/>
                </a:solidFill>
              </a:rPr>
              <a:t>rolling 60-day correlation filter</a:t>
            </a:r>
            <a:r>
              <a:rPr lang="en" sz="1608">
                <a:solidFill>
                  <a:schemeClr val="dk1"/>
                </a:solidFill>
              </a:rPr>
              <a:t> to identify highly correlated asset pairs (threshold ≥ 0.75).</a:t>
            </a:r>
            <a:br>
              <a:rPr lang="en" sz="1608">
                <a:solidFill>
                  <a:schemeClr val="dk1"/>
                </a:solidFill>
              </a:rPr>
            </a:br>
            <a:endParaRPr sz="1608">
              <a:solidFill>
                <a:schemeClr val="dk1"/>
              </a:solidFill>
            </a:endParaRPr>
          </a:p>
          <a:p>
            <a:pPr indent="-33071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8"/>
              <a:buChar char="●"/>
            </a:pPr>
            <a:r>
              <a:rPr lang="en" sz="1608">
                <a:solidFill>
                  <a:schemeClr val="dk1"/>
                </a:solidFill>
              </a:rPr>
              <a:t>Perform the </a:t>
            </a:r>
            <a:r>
              <a:rPr b="1" lang="en" sz="1608">
                <a:solidFill>
                  <a:schemeClr val="dk1"/>
                </a:solidFill>
              </a:rPr>
              <a:t>Engle–Granger cointegration test</a:t>
            </a:r>
            <a:r>
              <a:rPr lang="en" sz="1608">
                <a:solidFill>
                  <a:schemeClr val="dk1"/>
                </a:solidFill>
              </a:rPr>
              <a:t> on each pair:</a:t>
            </a:r>
            <a:br>
              <a:rPr lang="en" sz="1608">
                <a:solidFill>
                  <a:schemeClr val="dk1"/>
                </a:solidFill>
              </a:rPr>
            </a:br>
            <a:endParaRPr sz="1608">
              <a:solidFill>
                <a:schemeClr val="dk1"/>
              </a:solidFill>
            </a:endParaRPr>
          </a:p>
          <a:p>
            <a:pPr indent="-33071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8"/>
              <a:buChar char="○"/>
            </a:pPr>
            <a:r>
              <a:rPr lang="en" sz="1608">
                <a:solidFill>
                  <a:schemeClr val="dk1"/>
                </a:solidFill>
              </a:rPr>
              <a:t>Regress one asset’s log price on the other to obtain residuals.</a:t>
            </a:r>
            <a:br>
              <a:rPr lang="en" sz="1608">
                <a:solidFill>
                  <a:schemeClr val="dk1"/>
                </a:solidFill>
              </a:rPr>
            </a:br>
            <a:endParaRPr sz="1608">
              <a:solidFill>
                <a:schemeClr val="dk1"/>
              </a:solidFill>
            </a:endParaRPr>
          </a:p>
          <a:p>
            <a:pPr indent="-33071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8"/>
              <a:buChar char="○"/>
            </a:pPr>
            <a:r>
              <a:rPr lang="en" sz="1608">
                <a:solidFill>
                  <a:schemeClr val="dk1"/>
                </a:solidFill>
              </a:rPr>
              <a:t>Apply the </a:t>
            </a:r>
            <a:r>
              <a:rPr b="1" lang="en" sz="1608">
                <a:solidFill>
                  <a:schemeClr val="dk1"/>
                </a:solidFill>
              </a:rPr>
              <a:t>ADF test</a:t>
            </a:r>
            <a:r>
              <a:rPr lang="en" sz="1608">
                <a:solidFill>
                  <a:schemeClr val="dk1"/>
                </a:solidFill>
              </a:rPr>
              <a:t> on residuals; select pairs with p-value &lt; 0.05 to ensure stationarity.</a:t>
            </a:r>
            <a:br>
              <a:rPr lang="en" sz="1608">
                <a:solidFill>
                  <a:schemeClr val="dk1"/>
                </a:solidFill>
              </a:rPr>
            </a:br>
            <a:endParaRPr sz="1608">
              <a:solidFill>
                <a:schemeClr val="dk1"/>
              </a:solidFill>
            </a:endParaRPr>
          </a:p>
          <a:p>
            <a:pPr indent="-33071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8"/>
              <a:buChar char="●"/>
            </a:pPr>
            <a:r>
              <a:rPr lang="en" sz="1608">
                <a:solidFill>
                  <a:schemeClr val="dk1"/>
                </a:solidFill>
              </a:rPr>
              <a:t>Recalculate cointegration and stationarity </a:t>
            </a:r>
            <a:r>
              <a:rPr b="1" lang="en" sz="1608">
                <a:solidFill>
                  <a:schemeClr val="dk1"/>
                </a:solidFill>
              </a:rPr>
              <a:t>monthly</a:t>
            </a:r>
            <a:r>
              <a:rPr lang="en" sz="1608">
                <a:solidFill>
                  <a:schemeClr val="dk1"/>
                </a:solidFill>
              </a:rPr>
              <a:t> to maintain robustness.</a:t>
            </a:r>
            <a:br>
              <a:rPr lang="en" sz="1608">
                <a:solidFill>
                  <a:schemeClr val="dk1"/>
                </a:solidFill>
              </a:rPr>
            </a:br>
            <a:endParaRPr sz="1608">
              <a:solidFill>
                <a:schemeClr val="dk1"/>
              </a:solidFill>
            </a:endParaRPr>
          </a:p>
          <a:p>
            <a:pPr indent="-33071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8"/>
              <a:buChar char="●"/>
            </a:pPr>
            <a:r>
              <a:rPr lang="en" sz="1608">
                <a:solidFill>
                  <a:schemeClr val="dk1"/>
                </a:solidFill>
              </a:rPr>
              <a:t>Estimate </a:t>
            </a:r>
            <a:r>
              <a:rPr b="1" lang="en" sz="1608">
                <a:solidFill>
                  <a:schemeClr val="dk1"/>
                </a:solidFill>
              </a:rPr>
              <a:t>Ornstein–Uhlenbeck (OU)</a:t>
            </a:r>
            <a:r>
              <a:rPr lang="en" sz="1608">
                <a:solidFill>
                  <a:schemeClr val="dk1"/>
                </a:solidFill>
              </a:rPr>
              <a:t> process parameters (κ, μ, σ) for each pair to assess mean reversion characteristics.</a:t>
            </a:r>
            <a:br>
              <a:rPr lang="en" sz="1608">
                <a:solidFill>
                  <a:schemeClr val="dk1"/>
                </a:solidFill>
              </a:rPr>
            </a:br>
            <a:endParaRPr sz="1608">
              <a:solidFill>
                <a:schemeClr val="dk1"/>
              </a:solidFill>
            </a:endParaRPr>
          </a:p>
          <a:p>
            <a:pPr indent="-33071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8"/>
              <a:buChar char="●"/>
            </a:pPr>
            <a:r>
              <a:rPr lang="en" sz="1608">
                <a:solidFill>
                  <a:schemeClr val="dk1"/>
                </a:solidFill>
              </a:rPr>
              <a:t>Filter pairs based on OU half-life and stability of parameters.</a:t>
            </a:r>
            <a:endParaRPr sz="160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Pair Selection - Visualization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525" y="1093850"/>
            <a:ext cx="3320888" cy="159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0" y="1017725"/>
            <a:ext cx="3179960" cy="1596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690" y="3093375"/>
            <a:ext cx="3007826" cy="145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35324" y="2888875"/>
            <a:ext cx="4330698" cy="196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Pair Selection - Visualization</a:t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1450" y="1081100"/>
            <a:ext cx="6102748" cy="175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0175" y="2951175"/>
            <a:ext cx="6943633" cy="199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206425" y="166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Engineering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206425" y="739500"/>
            <a:ext cx="8850000" cy="42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Construct predictive features from three categories to capture spread behavior beyond simple technical indicators: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Econometric Features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Estimate parameters of the </a:t>
            </a:r>
            <a:r>
              <a:rPr b="1" lang="en" sz="1100">
                <a:solidFill>
                  <a:schemeClr val="dk1"/>
                </a:solidFill>
              </a:rPr>
              <a:t>Ornstein–Uhlenbeck (OU)</a:t>
            </a:r>
            <a:r>
              <a:rPr lang="en" sz="1100">
                <a:solidFill>
                  <a:schemeClr val="dk1"/>
                </a:solidFill>
              </a:rPr>
              <a:t> process fitted to the spread: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Extract κ (speed of mean reversion), μ (long-term mean), σ (volatility).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Additional statistics: ADF t-statistics, Hurst exponent, short-term momentum.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Hidden Markov Model (HMM) Regime Features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Fit a 2–3 state Gaussian HMM to spread returns.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Compute </a:t>
            </a:r>
            <a:r>
              <a:rPr b="1" lang="en" sz="1100">
                <a:solidFill>
                  <a:schemeClr val="dk1"/>
                </a:solidFill>
              </a:rPr>
              <a:t>state probabilities</a:t>
            </a:r>
            <a:r>
              <a:rPr lang="en" sz="1100">
                <a:solidFill>
                  <a:schemeClr val="dk1"/>
                </a:solidFill>
              </a:rPr>
              <a:t> for each time point to characterize regimes (e.g., trending vs mean-reverting)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Macro Features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Include contemporaneous macro indicators (e.g., VIX, yield curve spread) to reflect market conditions.</a:t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9525" y="1638825"/>
            <a:ext cx="2351150" cy="3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228975" y="144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Label Generation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131225" y="753925"/>
            <a:ext cx="8932500" cy="43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Generate </a:t>
            </a:r>
            <a:r>
              <a:rPr b="1" lang="en" sz="1100">
                <a:solidFill>
                  <a:schemeClr val="dk1"/>
                </a:solidFill>
              </a:rPr>
              <a:t>supervised learning labels</a:t>
            </a:r>
            <a:r>
              <a:rPr lang="en" sz="1100">
                <a:solidFill>
                  <a:schemeClr val="dk1"/>
                </a:solidFill>
              </a:rPr>
              <a:t> by simulating simple </a:t>
            </a:r>
            <a:r>
              <a:rPr b="1" lang="en" sz="1100">
                <a:solidFill>
                  <a:schemeClr val="dk1"/>
                </a:solidFill>
              </a:rPr>
              <a:t>mean reversion trades</a:t>
            </a:r>
            <a:r>
              <a:rPr lang="en" sz="1100">
                <a:solidFill>
                  <a:schemeClr val="dk1"/>
                </a:solidFill>
              </a:rPr>
              <a:t> on the spread, based on </a:t>
            </a:r>
            <a:r>
              <a:rPr b="1" lang="en" sz="1100">
                <a:solidFill>
                  <a:schemeClr val="dk1"/>
                </a:solidFill>
              </a:rPr>
              <a:t>z-score signals</a:t>
            </a:r>
            <a:r>
              <a:rPr lang="en" sz="1100">
                <a:solidFill>
                  <a:schemeClr val="dk1"/>
                </a:solidFill>
              </a:rPr>
              <a:t>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For each pair, compute the spread and its rolling mean and standard deviation. Then calculate the z-score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Entry and exit rules: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Enter Long</a:t>
            </a:r>
            <a:r>
              <a:rPr lang="en" sz="1100">
                <a:solidFill>
                  <a:schemeClr val="dk1"/>
                </a:solidFill>
              </a:rPr>
              <a:t> if z_t ≤ −1.5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Enter Short</a:t>
            </a:r>
            <a:r>
              <a:rPr lang="en" sz="1100">
                <a:solidFill>
                  <a:schemeClr val="dk1"/>
                </a:solidFill>
              </a:rPr>
              <a:t> if z_t ≥ +1.5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Take Profit</a:t>
            </a:r>
            <a:r>
              <a:rPr lang="en" sz="1100">
                <a:solidFill>
                  <a:schemeClr val="dk1"/>
                </a:solidFill>
              </a:rPr>
              <a:t> at z=0, </a:t>
            </a:r>
            <a:r>
              <a:rPr b="1" lang="en" sz="1100">
                <a:solidFill>
                  <a:schemeClr val="dk1"/>
                </a:solidFill>
              </a:rPr>
              <a:t>Stop Loss</a:t>
            </a:r>
            <a:r>
              <a:rPr lang="en" sz="1100">
                <a:solidFill>
                  <a:schemeClr val="dk1"/>
                </a:solidFill>
              </a:rPr>
              <a:t> at ±2.5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For each signal, label: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+1</a:t>
            </a:r>
            <a:r>
              <a:rPr lang="en" sz="1100">
                <a:solidFill>
                  <a:schemeClr val="dk1"/>
                </a:solidFill>
              </a:rPr>
              <a:t> if the trade hits take profit before stop loss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−1</a:t>
            </a:r>
            <a:r>
              <a:rPr lang="en" sz="1100">
                <a:solidFill>
                  <a:schemeClr val="dk1"/>
                </a:solidFill>
              </a:rPr>
              <a:t> otherwise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Separate labels for </a:t>
            </a:r>
            <a:r>
              <a:rPr b="1" lang="en" sz="1100">
                <a:solidFill>
                  <a:schemeClr val="dk1"/>
                </a:solidFill>
              </a:rPr>
              <a:t>long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b="1" lang="en" sz="1100">
                <a:solidFill>
                  <a:schemeClr val="dk1"/>
                </a:solidFill>
              </a:rPr>
              <a:t>short</a:t>
            </a:r>
            <a:r>
              <a:rPr lang="en" sz="1100">
                <a:solidFill>
                  <a:schemeClr val="dk1"/>
                </a:solidFill>
              </a:rPr>
              <a:t> signals to train two classifiers (SVM-Long, SVM-Short).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236500" y="151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Walk-Forward Data Splitting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39300" y="724450"/>
            <a:ext cx="8804700" cy="42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Apply a </a:t>
            </a:r>
            <a:r>
              <a:rPr b="1" lang="en" sz="900">
                <a:solidFill>
                  <a:schemeClr val="dk1"/>
                </a:solidFill>
              </a:rPr>
              <a:t>walk-forward (rolling window)</a:t>
            </a:r>
            <a:r>
              <a:rPr lang="en" sz="900">
                <a:solidFill>
                  <a:schemeClr val="dk1"/>
                </a:solidFill>
              </a:rPr>
              <a:t> approach to avoid look-ahead bias and reflect realistic model deployment.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Split the dataset into </a:t>
            </a:r>
            <a:r>
              <a:rPr b="1" lang="en" sz="900">
                <a:solidFill>
                  <a:schemeClr val="dk1"/>
                </a:solidFill>
              </a:rPr>
              <a:t>training and testing windows</a:t>
            </a:r>
            <a:r>
              <a:rPr lang="en" sz="900">
                <a:solidFill>
                  <a:schemeClr val="dk1"/>
                </a:solidFill>
              </a:rPr>
              <a:t> that slide through time: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900">
                <a:solidFill>
                  <a:schemeClr val="dk1"/>
                </a:solidFill>
              </a:rPr>
              <a:t>Training Window:</a:t>
            </a:r>
            <a:r>
              <a:rPr lang="en" sz="900">
                <a:solidFill>
                  <a:schemeClr val="dk1"/>
                </a:solidFill>
              </a:rPr>
              <a:t> Past </a:t>
            </a:r>
            <a:r>
              <a:rPr i="1" lang="en" sz="900">
                <a:solidFill>
                  <a:schemeClr val="dk1"/>
                </a:solidFill>
              </a:rPr>
              <a:t>N = 750</a:t>
            </a:r>
            <a:r>
              <a:rPr lang="en" sz="900">
                <a:solidFill>
                  <a:schemeClr val="dk1"/>
                </a:solidFill>
              </a:rPr>
              <a:t> observations (≈ 3 years)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900">
                <a:solidFill>
                  <a:schemeClr val="dk1"/>
                </a:solidFill>
              </a:rPr>
              <a:t>Testing Window:</a:t>
            </a:r>
            <a:r>
              <a:rPr lang="en" sz="900">
                <a:solidFill>
                  <a:schemeClr val="dk1"/>
                </a:solidFill>
              </a:rPr>
              <a:t> Next </a:t>
            </a:r>
            <a:r>
              <a:rPr i="1" lang="en" sz="900">
                <a:solidFill>
                  <a:schemeClr val="dk1"/>
                </a:solidFill>
              </a:rPr>
              <a:t>M = 252</a:t>
            </a:r>
            <a:r>
              <a:rPr lang="en" sz="900">
                <a:solidFill>
                  <a:schemeClr val="dk1"/>
                </a:solidFill>
              </a:rPr>
              <a:t> observations (≈ 6–12 months)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900">
                <a:solidFill>
                  <a:schemeClr val="dk1"/>
                </a:solidFill>
              </a:rPr>
              <a:t>Label Buffer:</a:t>
            </a:r>
            <a:r>
              <a:rPr lang="en" sz="900">
                <a:solidFill>
                  <a:schemeClr val="dk1"/>
                </a:solidFill>
              </a:rPr>
              <a:t> ~30 bars between train and test to prevent label leakage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At each iteration (fold):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Fit </a:t>
            </a:r>
            <a:r>
              <a:rPr b="1" lang="en" sz="900">
                <a:solidFill>
                  <a:schemeClr val="dk1"/>
                </a:solidFill>
              </a:rPr>
              <a:t>separate SVM models</a:t>
            </a:r>
            <a:r>
              <a:rPr lang="en" sz="900">
                <a:solidFill>
                  <a:schemeClr val="dk1"/>
                </a:solidFill>
              </a:rPr>
              <a:t> for long and short trades using only past data.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900">
                <a:solidFill>
                  <a:schemeClr val="dk1"/>
                </a:solidFill>
              </a:rPr>
              <a:t>Calibrate model outputs</a:t>
            </a:r>
            <a:r>
              <a:rPr lang="en" sz="900">
                <a:solidFill>
                  <a:schemeClr val="dk1"/>
                </a:solidFill>
              </a:rPr>
              <a:t> to obtain probabilistic scores (</a:t>
            </a:r>
            <a:r>
              <a:rPr i="1" lang="en" sz="900">
                <a:solidFill>
                  <a:schemeClr val="dk1"/>
                </a:solidFill>
              </a:rPr>
              <a:t>p_profit</a:t>
            </a:r>
            <a:r>
              <a:rPr lang="en" sz="900">
                <a:solidFill>
                  <a:schemeClr val="dk1"/>
                </a:solidFill>
              </a:rPr>
              <a:t>).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</a:rPr>
              <a:t>Determine a </a:t>
            </a:r>
            <a:r>
              <a:rPr b="1" lang="en" sz="900">
                <a:solidFill>
                  <a:schemeClr val="dk1"/>
                </a:solidFill>
              </a:rPr>
              <a:t>ROC-optimal probability threshold</a:t>
            </a:r>
            <a:r>
              <a:rPr lang="en" sz="900">
                <a:solidFill>
                  <a:schemeClr val="dk1"/>
                </a:solidFill>
              </a:rPr>
              <a:t> on a validation slice within the training window.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en" sz="900">
                <a:solidFill>
                  <a:schemeClr val="dk1"/>
                </a:solidFill>
              </a:rPr>
              <a:t>Evaluate</a:t>
            </a:r>
            <a:r>
              <a:rPr lang="en" sz="900">
                <a:solidFill>
                  <a:schemeClr val="dk1"/>
                </a:solidFill>
              </a:rPr>
              <a:t> the calibrated models on the next unseen test window.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Move the window forward and repeat.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This method preserves </a:t>
            </a:r>
            <a:r>
              <a:rPr b="1" lang="en" sz="900">
                <a:solidFill>
                  <a:schemeClr val="dk1"/>
                </a:solidFill>
              </a:rPr>
              <a:t>temporal ordering</a:t>
            </a:r>
            <a:r>
              <a:rPr lang="en" sz="900">
                <a:solidFill>
                  <a:schemeClr val="dk1"/>
                </a:solidFill>
              </a:rPr>
              <a:t>, ensures </a:t>
            </a:r>
            <a:r>
              <a:rPr b="1" lang="en" sz="900">
                <a:solidFill>
                  <a:schemeClr val="dk1"/>
                </a:solidFill>
              </a:rPr>
              <a:t>no data leakage</a:t>
            </a:r>
            <a:r>
              <a:rPr lang="en" sz="900">
                <a:solidFill>
                  <a:schemeClr val="dk1"/>
                </a:solidFill>
              </a:rPr>
              <a:t>, and </a:t>
            </a:r>
            <a:r>
              <a:rPr b="1" lang="en" sz="900">
                <a:solidFill>
                  <a:schemeClr val="dk1"/>
                </a:solidFill>
              </a:rPr>
              <a:t>mimics live retraining</a:t>
            </a:r>
            <a:r>
              <a:rPr lang="en" sz="900">
                <a:solidFill>
                  <a:schemeClr val="dk1"/>
                </a:solidFill>
              </a:rPr>
              <a:t> with dynamic probability calibration per fold.</a:t>
            </a:r>
            <a:endParaRPr sz="9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267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Backtest Trading Logic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33450" y="950175"/>
            <a:ext cx="8477100" cy="38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00">
                <a:solidFill>
                  <a:schemeClr val="dk1"/>
                </a:solidFill>
              </a:rPr>
              <a:t>Implement a </a:t>
            </a:r>
            <a:r>
              <a:rPr b="1" lang="en" sz="1000">
                <a:solidFill>
                  <a:schemeClr val="dk1"/>
                </a:solidFill>
              </a:rPr>
              <a:t>live trading simulation</a:t>
            </a:r>
            <a:r>
              <a:rPr lang="en" sz="1000">
                <a:solidFill>
                  <a:schemeClr val="dk1"/>
                </a:solidFill>
              </a:rPr>
              <a:t> using model predictions and z-score signals.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" sz="1000">
                <a:solidFill>
                  <a:schemeClr val="dk1"/>
                </a:solidFill>
              </a:rPr>
              <a:t>At each time step</a:t>
            </a:r>
            <a:r>
              <a:rPr lang="en" sz="1000">
                <a:solidFill>
                  <a:schemeClr val="dk1"/>
                </a:solidFill>
              </a:rPr>
              <a:t>: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Compute spread, z-score, and features (252-bar hedge ratio, 60-bar z-score).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If </a:t>
            </a:r>
            <a:r>
              <a:rPr b="1" lang="en" sz="1000">
                <a:solidFill>
                  <a:schemeClr val="dk1"/>
                </a:solidFill>
              </a:rPr>
              <a:t>|z| ≥ entry threshold</a:t>
            </a:r>
            <a:r>
              <a:rPr lang="en" sz="1000">
                <a:solidFill>
                  <a:schemeClr val="dk1"/>
                </a:solidFill>
              </a:rPr>
              <a:t>, raise a signal.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Side: long if </a:t>
            </a:r>
            <a:r>
              <a:rPr b="1" lang="en" sz="1000">
                <a:solidFill>
                  <a:schemeClr val="dk1"/>
                </a:solidFill>
              </a:rPr>
              <a:t>z &lt; 0</a:t>
            </a:r>
            <a:r>
              <a:rPr lang="en" sz="1000">
                <a:solidFill>
                  <a:schemeClr val="dk1"/>
                </a:solidFill>
              </a:rPr>
              <a:t>, short if </a:t>
            </a:r>
            <a:r>
              <a:rPr b="1" lang="en" sz="1000">
                <a:solidFill>
                  <a:schemeClr val="dk1"/>
                </a:solidFill>
              </a:rPr>
              <a:t>z &gt; 0</a:t>
            </a:r>
            <a:r>
              <a:rPr lang="en" sz="1000">
                <a:solidFill>
                  <a:schemeClr val="dk1"/>
                </a:solidFill>
              </a:rPr>
              <a:t>.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Get calibrated SVM probability for that side, </a:t>
            </a:r>
            <a:r>
              <a:rPr b="1" lang="en" sz="1000">
                <a:solidFill>
                  <a:schemeClr val="dk1"/>
                </a:solidFill>
              </a:rPr>
              <a:t>weighted</a:t>
            </a:r>
            <a:r>
              <a:rPr lang="en" sz="1000">
                <a:solidFill>
                  <a:schemeClr val="dk1"/>
                </a:solidFill>
              </a:rPr>
              <a:t> by HMM mean-reversion prob.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Enter, if the effective probability clears the threshold (ROC-optimal per fold/side or top-20% quantile).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Manage the open trade each bar: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" sz="1000">
                <a:solidFill>
                  <a:schemeClr val="dk1"/>
                </a:solidFill>
              </a:rPr>
              <a:t>Take profit when z -&gt; 0,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" sz="1000">
                <a:solidFill>
                  <a:schemeClr val="dk1"/>
                </a:solidFill>
              </a:rPr>
              <a:t>Stop loss if z moves further past entry,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" sz="1000">
                <a:solidFill>
                  <a:schemeClr val="dk1"/>
                </a:solidFill>
              </a:rPr>
              <a:t>Exit on max holding time.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" sz="1050">
                <a:solidFill>
                  <a:schemeClr val="dk1"/>
                </a:solidFill>
              </a:rPr>
              <a:t>Hyperparameters to tune</a:t>
            </a:r>
            <a:r>
              <a:rPr lang="en" sz="1050">
                <a:solidFill>
                  <a:schemeClr val="dk1"/>
                </a:solidFill>
              </a:rPr>
              <a:t>: Entry z-score threshold, Take-profit and stop-loss levels, Max holding time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186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Backtest Results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2395250"/>
            <a:ext cx="5352600" cy="21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The strategy was evaluated on three final pairs (</a:t>
            </a:r>
            <a:r>
              <a:rPr b="1" lang="en" sz="1000">
                <a:solidFill>
                  <a:schemeClr val="dk1"/>
                </a:solidFill>
              </a:rPr>
              <a:t>DIA–SPY</a:t>
            </a:r>
            <a:r>
              <a:rPr lang="en" sz="1000">
                <a:solidFill>
                  <a:schemeClr val="dk1"/>
                </a:solidFill>
              </a:rPr>
              <a:t>, </a:t>
            </a:r>
            <a:r>
              <a:rPr b="1" lang="en" sz="1000">
                <a:solidFill>
                  <a:schemeClr val="dk1"/>
                </a:solidFill>
              </a:rPr>
              <a:t>UNP–CSX</a:t>
            </a:r>
            <a:r>
              <a:rPr lang="en" sz="1000">
                <a:solidFill>
                  <a:schemeClr val="dk1"/>
                </a:solidFill>
              </a:rPr>
              <a:t>, </a:t>
            </a:r>
            <a:r>
              <a:rPr b="1" lang="en" sz="1000">
                <a:solidFill>
                  <a:schemeClr val="dk1"/>
                </a:solidFill>
              </a:rPr>
              <a:t>NEE–DUK</a:t>
            </a:r>
            <a:r>
              <a:rPr lang="en" sz="1000">
                <a:solidFill>
                  <a:schemeClr val="dk1"/>
                </a:solidFill>
              </a:rPr>
              <a:t>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Key Findings: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" sz="1000">
                <a:solidFill>
                  <a:schemeClr val="dk1"/>
                </a:solidFill>
              </a:rPr>
              <a:t>UNP–CSX</a:t>
            </a:r>
            <a:r>
              <a:rPr lang="en" sz="1000">
                <a:solidFill>
                  <a:schemeClr val="dk1"/>
                </a:solidFill>
              </a:rPr>
              <a:t> achieved strong mean-reversion behavior, with a </a:t>
            </a:r>
            <a:r>
              <a:rPr b="1" lang="en" sz="1000">
                <a:solidFill>
                  <a:schemeClr val="dk1"/>
                </a:solidFill>
              </a:rPr>
              <a:t>67% hit rate</a:t>
            </a:r>
            <a:r>
              <a:rPr lang="en" sz="1000">
                <a:solidFill>
                  <a:schemeClr val="dk1"/>
                </a:solidFill>
              </a:rPr>
              <a:t> and </a:t>
            </a:r>
            <a:r>
              <a:rPr b="1" lang="en" sz="1000">
                <a:solidFill>
                  <a:schemeClr val="dk1"/>
                </a:solidFill>
              </a:rPr>
              <a:t>positive total PnL</a:t>
            </a:r>
            <a:r>
              <a:rPr lang="en" sz="1000">
                <a:solidFill>
                  <a:schemeClr val="dk1"/>
                </a:solidFill>
              </a:rPr>
              <a:t>.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" sz="1000">
                <a:solidFill>
                  <a:schemeClr val="dk1"/>
                </a:solidFill>
              </a:rPr>
              <a:t>DIA–SPY</a:t>
            </a:r>
            <a:r>
              <a:rPr lang="en" sz="1000">
                <a:solidFill>
                  <a:schemeClr val="dk1"/>
                </a:solidFill>
              </a:rPr>
              <a:t>, a benchmark pair, traded frequently but underperformed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" sz="1000">
                <a:solidFill>
                  <a:schemeClr val="dk1"/>
                </a:solidFill>
              </a:rPr>
              <a:t>NEE–DUK</a:t>
            </a:r>
            <a:r>
              <a:rPr lang="en" sz="1000">
                <a:solidFill>
                  <a:schemeClr val="dk1"/>
                </a:solidFill>
              </a:rPr>
              <a:t> exhibited no profitable signals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pic>
        <p:nvPicPr>
          <p:cNvPr id="121" name="Google Shape;12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101" y="888250"/>
            <a:ext cx="4832430" cy="137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8830" y="750699"/>
            <a:ext cx="2682157" cy="137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3"/>
          <p:cNvSpPr/>
          <p:nvPr/>
        </p:nvSpPr>
        <p:spPr>
          <a:xfrm>
            <a:off x="315600" y="2403325"/>
            <a:ext cx="5373000" cy="2184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9525" y="2265775"/>
            <a:ext cx="2560787" cy="137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74226" y="3780850"/>
            <a:ext cx="2354552" cy="1259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Interpretation</a:t>
            </a:r>
            <a:endParaRPr/>
          </a:p>
        </p:txBody>
      </p:sp>
      <p:pic>
        <p:nvPicPr>
          <p:cNvPr id="131" name="Google Shape;1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8800" y="320475"/>
            <a:ext cx="2760726" cy="2302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6350" y="2753275"/>
            <a:ext cx="2844672" cy="230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4"/>
          <p:cNvSpPr txBox="1"/>
          <p:nvPr/>
        </p:nvSpPr>
        <p:spPr>
          <a:xfrm>
            <a:off x="267025" y="979125"/>
            <a:ext cx="5065500" cy="3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dk1"/>
                </a:solidFill>
              </a:rPr>
              <a:t>Model behavior shows statistical validity despite low profitability.</a:t>
            </a:r>
            <a:endParaRPr b="1"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en" sz="1050">
                <a:solidFill>
                  <a:schemeClr val="dk1"/>
                </a:solidFill>
              </a:rPr>
              <a:t>The </a:t>
            </a:r>
            <a:r>
              <a:rPr b="1" lang="en" sz="1050">
                <a:solidFill>
                  <a:schemeClr val="dk1"/>
                </a:solidFill>
              </a:rPr>
              <a:t>ROC curves (AUC ≈ 0.60)</a:t>
            </a:r>
            <a:r>
              <a:rPr lang="en" sz="1050">
                <a:solidFill>
                  <a:schemeClr val="dk1"/>
                </a:solidFill>
              </a:rPr>
              <a:t> demonstrate that the SVM distinguishes profitable from unprofitable trades better than random, which means it’s a </a:t>
            </a:r>
            <a:r>
              <a:rPr b="1" lang="en" sz="1050">
                <a:solidFill>
                  <a:schemeClr val="dk1"/>
                </a:solidFill>
              </a:rPr>
              <a:t>weak but genuine predictive signal</a:t>
            </a:r>
            <a:br>
              <a:rPr lang="en" sz="1050">
                <a:solidFill>
                  <a:schemeClr val="dk1"/>
                </a:solidFill>
              </a:rPr>
            </a:b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en" sz="1050">
                <a:solidFill>
                  <a:schemeClr val="dk1"/>
                </a:solidFill>
              </a:rPr>
              <a:t>The </a:t>
            </a:r>
            <a:r>
              <a:rPr b="1" lang="en" sz="1050">
                <a:solidFill>
                  <a:schemeClr val="dk1"/>
                </a:solidFill>
              </a:rPr>
              <a:t>equity curves</a:t>
            </a:r>
            <a:r>
              <a:rPr lang="en" sz="1050">
                <a:solidFill>
                  <a:schemeClr val="dk1"/>
                </a:solidFill>
              </a:rPr>
              <a:t> shown earlier evolve smoothly, without erratic jumps, showing the model reacts systematically rather than randomly.</a:t>
            </a:r>
            <a:br>
              <a:rPr lang="en" sz="1050">
                <a:solidFill>
                  <a:schemeClr val="dk1"/>
                </a:solidFill>
              </a:rPr>
            </a:b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en" sz="1050">
                <a:solidFill>
                  <a:schemeClr val="dk1"/>
                </a:solidFill>
              </a:rPr>
              <a:t>The </a:t>
            </a:r>
            <a:r>
              <a:rPr b="1" lang="en" sz="1050">
                <a:solidFill>
                  <a:schemeClr val="dk1"/>
                </a:solidFill>
              </a:rPr>
              <a:t>per-pair results</a:t>
            </a:r>
            <a:r>
              <a:rPr lang="en" sz="1050">
                <a:solidFill>
                  <a:schemeClr val="dk1"/>
                </a:solidFill>
              </a:rPr>
              <a:t> highlight that signal strength varies by market — UNP–CSX mean-reverted successfully, while others lagged due to slower or unstable spreads.</a:t>
            </a:r>
            <a:br>
              <a:rPr lang="en" sz="1050">
                <a:solidFill>
                  <a:schemeClr val="dk1"/>
                </a:solidFill>
              </a:rPr>
            </a:br>
            <a:endParaRPr b="1"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dk1"/>
                </a:solidFill>
              </a:rPr>
              <a:t>Therefore, even though the total </a:t>
            </a:r>
            <a:r>
              <a:rPr b="1" lang="en" sz="1050">
                <a:solidFill>
                  <a:schemeClr val="dk1"/>
                </a:solidFill>
              </a:rPr>
              <a:t>PnL &lt; 0</a:t>
            </a:r>
            <a:r>
              <a:rPr lang="en" sz="1050">
                <a:solidFill>
                  <a:schemeClr val="dk1"/>
                </a:solidFill>
              </a:rPr>
              <a:t>, the ROC curve shows us that </a:t>
            </a:r>
            <a:r>
              <a:rPr lang="en" sz="1050">
                <a:solidFill>
                  <a:srgbClr val="0E0E0E"/>
                </a:solidFill>
              </a:rPr>
              <a:t>the model has </a:t>
            </a:r>
            <a:r>
              <a:rPr b="1" lang="en" sz="1050">
                <a:solidFill>
                  <a:srgbClr val="0E0E0E"/>
                </a:solidFill>
              </a:rPr>
              <a:t>directional awareness</a:t>
            </a:r>
            <a:r>
              <a:rPr lang="en" sz="1050">
                <a:solidFill>
                  <a:srgbClr val="0E0E0E"/>
                </a:solidFill>
              </a:rPr>
              <a:t> of profitable conditions and that the framework works, but execution and parameter tuning need refinement.</a:t>
            </a:r>
            <a:endParaRPr sz="1050">
              <a:solidFill>
                <a:srgbClr val="0E0E0E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265350" y="136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and Future Work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708825"/>
            <a:ext cx="8520600" cy="41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dk1"/>
                </a:solidFill>
              </a:rPr>
              <a:t>We, </a:t>
            </a:r>
            <a:endParaRPr sz="4500">
              <a:solidFill>
                <a:schemeClr val="dk1"/>
              </a:solidFill>
            </a:endParaRPr>
          </a:p>
          <a:p>
            <a:pPr indent="-300039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500">
                <a:solidFill>
                  <a:srgbClr val="0E0E0E"/>
                </a:solidFill>
              </a:rPr>
              <a:t>Investigated pairs trading performance in different market regimes using a regime-aware SVM framework, integrating econometric features, HMM state probabilities, and back tested trading signals.</a:t>
            </a:r>
            <a:br>
              <a:rPr lang="en" sz="4500">
                <a:solidFill>
                  <a:schemeClr val="dk1"/>
                </a:solidFill>
              </a:rPr>
            </a:br>
            <a:endParaRPr sz="4500">
              <a:solidFill>
                <a:schemeClr val="dk1"/>
              </a:solidFill>
            </a:endParaRPr>
          </a:p>
          <a:p>
            <a:pPr indent="-30003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500">
                <a:solidFill>
                  <a:schemeClr val="dk1"/>
                </a:solidFill>
              </a:rPr>
              <a:t>Demonstrated </a:t>
            </a:r>
            <a:r>
              <a:rPr b="1" lang="en" sz="4500">
                <a:solidFill>
                  <a:schemeClr val="dk1"/>
                </a:solidFill>
              </a:rPr>
              <a:t>weak but consistent predictive power</a:t>
            </a:r>
            <a:r>
              <a:rPr lang="en" sz="4500">
                <a:solidFill>
                  <a:schemeClr val="dk1"/>
                </a:solidFill>
              </a:rPr>
              <a:t> (AUC ≈ 0.6) with our strategy, confirming that mean-reversion structure exists even though total PnL remains modest.</a:t>
            </a:r>
            <a:br>
              <a:rPr lang="en" sz="4500">
                <a:solidFill>
                  <a:schemeClr val="dk1"/>
                </a:solidFill>
              </a:rPr>
            </a:br>
            <a:endParaRPr sz="4500">
              <a:solidFill>
                <a:schemeClr val="dk1"/>
              </a:solidFill>
            </a:endParaRPr>
          </a:p>
          <a:p>
            <a:pPr indent="-30003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500">
                <a:solidFill>
                  <a:schemeClr val="dk1"/>
                </a:solidFill>
              </a:rPr>
              <a:t>Implemented Walk-forward design and ROC-based evaluation ensured </a:t>
            </a:r>
            <a:r>
              <a:rPr b="1" lang="en" sz="4500">
                <a:solidFill>
                  <a:schemeClr val="dk1"/>
                </a:solidFill>
              </a:rPr>
              <a:t>no look-ahead bias</a:t>
            </a:r>
            <a:r>
              <a:rPr lang="en" sz="4500">
                <a:solidFill>
                  <a:schemeClr val="dk1"/>
                </a:solidFill>
              </a:rPr>
              <a:t> and realistic deployment behavior.</a:t>
            </a:r>
            <a:br>
              <a:rPr lang="en" sz="4500">
                <a:solidFill>
                  <a:schemeClr val="dk1"/>
                </a:solidFill>
              </a:rPr>
            </a:br>
            <a:endParaRPr sz="4500">
              <a:solidFill>
                <a:schemeClr val="dk1"/>
              </a:solidFill>
            </a:endParaRPr>
          </a:p>
          <a:p>
            <a:pPr indent="-30003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500">
                <a:solidFill>
                  <a:schemeClr val="dk1"/>
                </a:solidFill>
              </a:rPr>
              <a:t>HMM regimes aligned with volatility clustering, validating the market-state interpretation.</a:t>
            </a:r>
            <a:endParaRPr sz="4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chemeClr val="dk1"/>
                </a:solidFill>
              </a:rPr>
              <a:t>Future Work: </a:t>
            </a:r>
            <a:endParaRPr b="1" sz="4500">
              <a:solidFill>
                <a:schemeClr val="dk1"/>
              </a:solidFill>
            </a:endParaRPr>
          </a:p>
          <a:p>
            <a:pPr indent="-300039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4500">
                <a:solidFill>
                  <a:schemeClr val="dk1"/>
                </a:solidFill>
              </a:rPr>
              <a:t>Hyperparameter Tuning: </a:t>
            </a:r>
            <a:r>
              <a:rPr lang="en" sz="4500">
                <a:solidFill>
                  <a:schemeClr val="dk1"/>
                </a:solidFill>
              </a:rPr>
              <a:t>Refine z-score thresholds, stop-loss/take-profit bands, and SVM parameters (C, gamma).</a:t>
            </a:r>
            <a:br>
              <a:rPr lang="en" sz="4500">
                <a:solidFill>
                  <a:schemeClr val="dk1"/>
                </a:solidFill>
              </a:rPr>
            </a:br>
            <a:endParaRPr sz="4500">
              <a:solidFill>
                <a:schemeClr val="dk1"/>
              </a:solidFill>
            </a:endParaRPr>
          </a:p>
          <a:p>
            <a:pPr indent="-30003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4500">
                <a:solidFill>
                  <a:schemeClr val="dk1"/>
                </a:solidFill>
              </a:rPr>
              <a:t>Regime-Specific Models: </a:t>
            </a:r>
            <a:r>
              <a:rPr lang="en" sz="4500">
                <a:solidFill>
                  <a:schemeClr val="dk1"/>
                </a:solidFill>
              </a:rPr>
              <a:t>Train separate SVMs for each HMM regime to capture regime-dependent behavior.</a:t>
            </a:r>
            <a:br>
              <a:rPr lang="en" sz="4500">
                <a:solidFill>
                  <a:schemeClr val="dk1"/>
                </a:solidFill>
              </a:rPr>
            </a:br>
            <a:endParaRPr sz="4500">
              <a:solidFill>
                <a:schemeClr val="dk1"/>
              </a:solidFill>
            </a:endParaRPr>
          </a:p>
          <a:p>
            <a:pPr indent="-30003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4500">
                <a:solidFill>
                  <a:schemeClr val="dk1"/>
                </a:solidFill>
              </a:rPr>
              <a:t>Execution Layer: </a:t>
            </a:r>
            <a:r>
              <a:rPr lang="en" sz="4500">
                <a:solidFill>
                  <a:schemeClr val="dk1"/>
                </a:solidFill>
              </a:rPr>
              <a:t>Account for transaction costs and slippage to evaluate real-world performance.</a:t>
            </a:r>
            <a:br>
              <a:rPr lang="en" sz="4500">
                <a:solidFill>
                  <a:schemeClr val="dk1"/>
                </a:solidFill>
              </a:rPr>
            </a:br>
            <a:endParaRPr sz="4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